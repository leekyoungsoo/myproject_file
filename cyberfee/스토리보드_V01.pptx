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6" r:id="rId3"/>
    <p:sldId id="279" r:id="rId4"/>
    <p:sldId id="257" r:id="rId5"/>
    <p:sldId id="263" r:id="rId6"/>
    <p:sldId id="258" r:id="rId7"/>
    <p:sldId id="259" r:id="rId8"/>
    <p:sldId id="270" r:id="rId9"/>
    <p:sldId id="275" r:id="rId10"/>
    <p:sldId id="276" r:id="rId11"/>
    <p:sldId id="277" r:id="rId12"/>
    <p:sldId id="278" r:id="rId13"/>
    <p:sldId id="260" r:id="rId14"/>
    <p:sldId id="261" r:id="rId15"/>
    <p:sldId id="262" r:id="rId16"/>
    <p:sldId id="265" r:id="rId17"/>
    <p:sldId id="264" r:id="rId18"/>
    <p:sldId id="267" r:id="rId19"/>
    <p:sldId id="266" r:id="rId20"/>
    <p:sldId id="268" r:id="rId21"/>
    <p:sldId id="269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0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07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29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3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10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1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4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30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96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10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94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E7717-6657-4281-85F7-45B45EF2DD6D}" type="datetimeFigureOut">
              <a:rPr lang="ko-KR" altLang="en-US" smtClean="0"/>
              <a:t>2017-03-20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F0303-74A2-4CE0-9232-B50A76CD11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35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947" y="1935333"/>
            <a:ext cx="361188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/>
              <a:t>포장이사 네트워크</a:t>
            </a:r>
            <a:endParaRPr lang="en-US" altLang="ko-KR" sz="3200" dirty="0"/>
          </a:p>
          <a:p>
            <a:pPr algn="ctr"/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ko-KR" altLang="en-US" sz="3200" dirty="0" err="1"/>
              <a:t>본사용</a:t>
            </a:r>
            <a:endParaRPr lang="en-US" altLang="ko-KR" sz="3200" dirty="0"/>
          </a:p>
          <a:p>
            <a:pPr algn="ctr"/>
            <a:r>
              <a:rPr lang="en-US" altLang="ko-KR" sz="3200" dirty="0"/>
              <a:t>WEB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75480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371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/>
              <a:t>관리자페이지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4086" y="745725"/>
            <a:ext cx="8087557" cy="4394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>
            <a:off x="284086" y="1473693"/>
            <a:ext cx="8087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cxnSpLocks/>
          </p:cNvCxnSpPr>
          <p:nvPr/>
        </p:nvCxnSpPr>
        <p:spPr>
          <a:xfrm>
            <a:off x="1624614" y="1473693"/>
            <a:ext cx="0" cy="3666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3175" y="1637023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프렌차이즈관리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413175" y="209967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지점관리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175" y="256232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현장작업자관리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13175" y="3024976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175" y="395027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통계자료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175" y="3487627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알림서비스관리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413175" y="441292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환경설정</a:t>
            </a:r>
          </a:p>
        </p:txBody>
      </p:sp>
    </p:spTree>
    <p:extLst>
      <p:ext uri="{BB962C8B-B14F-4D97-AF65-F5344CB8AC3E}">
        <p14:creationId xmlns:p14="http://schemas.microsoft.com/office/powerpoint/2010/main" val="314385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947" y="1935333"/>
            <a:ext cx="361188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/>
              <a:t>포장이사 네트워크</a:t>
            </a:r>
            <a:endParaRPr lang="en-US" altLang="ko-KR" sz="3200" dirty="0"/>
          </a:p>
          <a:p>
            <a:pPr algn="ctr"/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ko-KR" altLang="en-US" sz="3200" dirty="0" err="1"/>
              <a:t>프렌차이즈용</a:t>
            </a:r>
            <a:endParaRPr lang="en-US" altLang="ko-KR" sz="3200" dirty="0"/>
          </a:p>
          <a:p>
            <a:pPr algn="ctr"/>
            <a:r>
              <a:rPr lang="en-US" altLang="ko-KR" sz="3200" dirty="0"/>
              <a:t>WEB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4453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526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프렌차이즈</a:t>
            </a:r>
            <a:r>
              <a:rPr lang="ko-KR" altLang="en-US" dirty="0"/>
              <a:t> 본사 관리페이지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4086" y="745725"/>
            <a:ext cx="8087557" cy="4394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>
            <a:off x="284086" y="1473693"/>
            <a:ext cx="8087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cxnSpLocks/>
          </p:cNvCxnSpPr>
          <p:nvPr/>
        </p:nvCxnSpPr>
        <p:spPr>
          <a:xfrm>
            <a:off x="1624614" y="1473693"/>
            <a:ext cx="0" cy="3666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3175" y="1637023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이사물량등록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175" y="209967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지점관리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175" y="256232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현장작업자관리</a:t>
            </a:r>
            <a:endParaRPr lang="ko-KR" alt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13175" y="3024976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175" y="395027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통계자료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175" y="3487627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알림서비스관리</a:t>
            </a:r>
            <a:endParaRPr lang="ko-KR" alt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13175" y="441292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환경설정</a:t>
            </a:r>
          </a:p>
        </p:txBody>
      </p:sp>
    </p:spTree>
    <p:extLst>
      <p:ext uri="{BB962C8B-B14F-4D97-AF65-F5344CB8AC3E}">
        <p14:creationId xmlns:p14="http://schemas.microsoft.com/office/powerpoint/2010/main" val="81586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947" y="1935333"/>
            <a:ext cx="361188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/>
              <a:t>포장이사 네트워크</a:t>
            </a:r>
            <a:endParaRPr lang="en-US" altLang="ko-KR" sz="3200" dirty="0"/>
          </a:p>
          <a:p>
            <a:pPr algn="ctr"/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ko-KR" altLang="en-US" sz="3200" dirty="0" err="1"/>
              <a:t>지점용</a:t>
            </a:r>
            <a:endParaRPr lang="en-US" altLang="ko-KR" sz="3200" dirty="0"/>
          </a:p>
          <a:p>
            <a:pPr algn="ctr"/>
            <a:r>
              <a:rPr lang="ko-KR" altLang="en-US" sz="3200" dirty="0"/>
              <a:t>앱</a:t>
            </a:r>
            <a:r>
              <a:rPr lang="en-US" altLang="ko-KR" sz="3200" dirty="0"/>
              <a:t>(Android)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7802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5328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현장 </a:t>
            </a:r>
            <a:r>
              <a:rPr lang="ko-KR" altLang="en-US" dirty="0" err="1"/>
              <a:t>직원용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메뉴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/>
          <p:cNvCxnSpPr>
            <a:stCxn id="16" idx="3"/>
          </p:cNvCxnSpPr>
          <p:nvPr/>
        </p:nvCxnSpPr>
        <p:spPr>
          <a:xfrm>
            <a:off x="825625" y="1025371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59151" y="902260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>
                <a:solidFill>
                  <a:srgbClr val="FF0000"/>
                </a:solidFill>
              </a:rPr>
              <a:t>메뉴버튼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08863" y="1225117"/>
            <a:ext cx="1708210" cy="23437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39555" y="190585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본사관리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555" y="150476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555" y="270804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환경설정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555" y="2306952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현장작업자관리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111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5290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이사정보관리</a:t>
            </a:r>
            <a:r>
              <a:rPr lang="en-US" altLang="ko-KR" dirty="0"/>
              <a:t>(</a:t>
            </a:r>
            <a:r>
              <a:rPr lang="ko-KR" altLang="en-US" dirty="0"/>
              <a:t>목록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54557" y="90225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이사정보관리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92098" y="2014945"/>
            <a:ext cx="3486334" cy="979377"/>
            <a:chOff x="392098" y="2014945"/>
            <a:chExt cx="3486334" cy="979377"/>
          </a:xfrm>
        </p:grpSpPr>
        <p:sp>
          <p:nvSpPr>
            <p:cNvPr id="22" name="직사각형 21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2099" y="2014945"/>
              <a:ext cx="18517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수수료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400267" y="3141944"/>
            <a:ext cx="3486334" cy="979377"/>
            <a:chOff x="392098" y="2014945"/>
            <a:chExt cx="3486334" cy="979377"/>
          </a:xfrm>
        </p:grpSpPr>
        <p:sp>
          <p:nvSpPr>
            <p:cNvPr id="40" name="직사각형 39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2099" y="2014945"/>
              <a:ext cx="18517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수수료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410549" y="4268943"/>
            <a:ext cx="3486334" cy="979377"/>
            <a:chOff x="392098" y="2014945"/>
            <a:chExt cx="3486334" cy="979377"/>
          </a:xfrm>
        </p:grpSpPr>
        <p:sp>
          <p:nvSpPr>
            <p:cNvPr id="46" name="직사각형 45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92099" y="2014945"/>
              <a:ext cx="18517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수수료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cxnSp>
        <p:nvCxnSpPr>
          <p:cNvPr id="51" name="직선 화살표 연결선 50"/>
          <p:cNvCxnSpPr>
            <a:cxnSpLocks/>
          </p:cNvCxnSpPr>
          <p:nvPr/>
        </p:nvCxnSpPr>
        <p:spPr>
          <a:xfrm flipV="1">
            <a:off x="3484160" y="2610497"/>
            <a:ext cx="14427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57062" y="2501880"/>
            <a:ext cx="48285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1. </a:t>
            </a:r>
            <a:r>
              <a:rPr lang="ko-KR" altLang="en-US" sz="1000" dirty="0">
                <a:solidFill>
                  <a:srgbClr val="FF0000"/>
                </a:solidFill>
              </a:rPr>
              <a:t>선택하면 </a:t>
            </a:r>
            <a:r>
              <a:rPr lang="en-US" altLang="ko-KR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>
                <a:solidFill>
                  <a:srgbClr val="FF0000"/>
                </a:solidFill>
              </a:rPr>
              <a:t>확인하시겠습니까</a:t>
            </a:r>
            <a:r>
              <a:rPr lang="en-US" altLang="ko-KR" sz="1000" dirty="0">
                <a:solidFill>
                  <a:srgbClr val="FF0000"/>
                </a:solidFill>
              </a:rPr>
              <a:t>?’ </a:t>
            </a:r>
            <a:r>
              <a:rPr lang="ko-KR" altLang="en-US" sz="1000" dirty="0">
                <a:solidFill>
                  <a:srgbClr val="FF0000"/>
                </a:solidFill>
              </a:rPr>
              <a:t>메시지 띄움 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2. </a:t>
            </a:r>
            <a:r>
              <a:rPr lang="ko-KR" altLang="en-US" sz="1000" dirty="0">
                <a:solidFill>
                  <a:srgbClr val="FF0000"/>
                </a:solidFill>
              </a:rPr>
              <a:t>지점과 </a:t>
            </a:r>
            <a:r>
              <a:rPr lang="ko-KR" altLang="en-US" sz="1000" dirty="0" err="1">
                <a:solidFill>
                  <a:srgbClr val="FF0000"/>
                </a:solidFill>
              </a:rPr>
              <a:t>프렌차이즈</a:t>
            </a:r>
            <a:r>
              <a:rPr lang="ko-KR" altLang="en-US" sz="1000" dirty="0">
                <a:solidFill>
                  <a:srgbClr val="FF0000"/>
                </a:solidFill>
              </a:rPr>
              <a:t> 간 수수료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비용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발생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3. </a:t>
            </a:r>
            <a:r>
              <a:rPr lang="ko-KR" altLang="en-US" sz="1000" dirty="0">
                <a:solidFill>
                  <a:srgbClr val="FF0000"/>
                </a:solidFill>
              </a:rPr>
              <a:t>해당 수수료 정산이 되면 </a:t>
            </a:r>
            <a:r>
              <a:rPr lang="ko-KR" altLang="en-US" sz="1000" dirty="0" err="1">
                <a:solidFill>
                  <a:srgbClr val="FF0000"/>
                </a:solidFill>
              </a:rPr>
              <a:t>프렌차이즈의</a:t>
            </a:r>
            <a:r>
              <a:rPr lang="ko-KR" altLang="en-US" sz="1000" dirty="0">
                <a:solidFill>
                  <a:srgbClr val="FF0000"/>
                </a:solidFill>
              </a:rPr>
              <a:t> 수수료에서 </a:t>
            </a:r>
            <a:r>
              <a:rPr lang="en-US" altLang="ko-KR" sz="1000" dirty="0">
                <a:solidFill>
                  <a:srgbClr val="FF0000"/>
                </a:solidFill>
              </a:rPr>
              <a:t>10%</a:t>
            </a:r>
            <a:r>
              <a:rPr lang="ko-KR" altLang="en-US" sz="1000" dirty="0">
                <a:solidFill>
                  <a:srgbClr val="FF0000"/>
                </a:solidFill>
              </a:rPr>
              <a:t>는 본사 수입으로 처리</a:t>
            </a:r>
            <a:endParaRPr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16001" y="3470078"/>
            <a:ext cx="4001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확인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수수료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 전에 보여줄 항목과 이후 항목 확인 필요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5429863" y="3812264"/>
            <a:ext cx="6036713" cy="2551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직선 연결선 54"/>
          <p:cNvCxnSpPr>
            <a:cxnSpLocks/>
            <a:stCxn id="54" idx="0"/>
            <a:endCxn id="54" idx="2"/>
          </p:cNvCxnSpPr>
          <p:nvPr/>
        </p:nvCxnSpPr>
        <p:spPr>
          <a:xfrm>
            <a:off x="8448220" y="3812264"/>
            <a:ext cx="0" cy="2551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>
            <a:cxnSpLocks/>
          </p:cNvCxnSpPr>
          <p:nvPr/>
        </p:nvCxnSpPr>
        <p:spPr>
          <a:xfrm>
            <a:off x="5429863" y="4268943"/>
            <a:ext cx="603671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7486" y="392005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정산 전 항목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523205" y="392005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정산 후 항목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95788" y="1494029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직사각형 59"/>
          <p:cNvSpPr/>
          <p:nvPr/>
        </p:nvSpPr>
        <p:spPr>
          <a:xfrm>
            <a:off x="1405703" y="1493384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608862" y="1529494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신규</a:t>
            </a:r>
            <a:endParaRPr lang="ko-KR" alt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1545476" y="154848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선택물량</a:t>
            </a:r>
          </a:p>
        </p:txBody>
      </p:sp>
      <p:cxnSp>
        <p:nvCxnSpPr>
          <p:cNvPr id="65" name="직선 화살표 연결선 64"/>
          <p:cNvCxnSpPr>
            <a:cxnSpLocks/>
          </p:cNvCxnSpPr>
          <p:nvPr/>
        </p:nvCxnSpPr>
        <p:spPr>
          <a:xfrm>
            <a:off x="1202864" y="1775715"/>
            <a:ext cx="3954198" cy="3623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177662" y="2029437"/>
            <a:ext cx="54745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현재 등록된 프랜차이즈에서 들어오는 실시간 이사정보</a:t>
            </a:r>
            <a:r>
              <a:rPr lang="en-US" altLang="ko-KR" sz="1000" dirty="0">
                <a:solidFill>
                  <a:srgbClr val="FF0000"/>
                </a:solidFill>
              </a:rPr>
              <a:t> (</a:t>
            </a:r>
            <a:r>
              <a:rPr lang="ko-KR" altLang="en-US" sz="1000" dirty="0">
                <a:solidFill>
                  <a:srgbClr val="FF0000"/>
                </a:solidFill>
              </a:rPr>
              <a:t>좌우 </a:t>
            </a:r>
            <a:r>
              <a:rPr lang="ko-KR" altLang="en-US" sz="1000" dirty="0" err="1">
                <a:solidFill>
                  <a:srgbClr val="FF0000"/>
                </a:solidFill>
              </a:rPr>
              <a:t>제스터를</a:t>
            </a:r>
            <a:r>
              <a:rPr lang="ko-KR" altLang="en-US" sz="1000" dirty="0">
                <a:solidFill>
                  <a:srgbClr val="FF0000"/>
                </a:solidFill>
              </a:rPr>
              <a:t> 통해 메뉴간 이동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2153716" y="1652604"/>
            <a:ext cx="3881324" cy="142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13461" y="1651383"/>
            <a:ext cx="46602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(4)</a:t>
            </a:r>
            <a:r>
              <a:rPr lang="ko-KR" altLang="en-US" sz="1000" dirty="0" err="1">
                <a:solidFill>
                  <a:srgbClr val="FF0000"/>
                </a:solidFill>
              </a:rPr>
              <a:t>프렌차이즈와</a:t>
            </a:r>
            <a:r>
              <a:rPr lang="ko-KR" altLang="en-US" sz="1000" dirty="0">
                <a:solidFill>
                  <a:srgbClr val="FF0000"/>
                </a:solidFill>
              </a:rPr>
              <a:t> 수수료를 지불한 이사정보 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좌우 </a:t>
            </a:r>
            <a:r>
              <a:rPr lang="ko-KR" altLang="en-US" sz="1000" dirty="0" err="1">
                <a:solidFill>
                  <a:srgbClr val="FF0000"/>
                </a:solidFill>
              </a:rPr>
              <a:t>제스터를</a:t>
            </a:r>
            <a:r>
              <a:rPr lang="ko-KR" altLang="en-US" sz="1000" dirty="0">
                <a:solidFill>
                  <a:srgbClr val="FF0000"/>
                </a:solidFill>
              </a:rPr>
              <a:t> 통해  메뉴간 이동 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420338" y="1489145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2560111" y="154424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계약물량</a:t>
            </a:r>
          </a:p>
        </p:txBody>
      </p:sp>
    </p:spTree>
    <p:extLst>
      <p:ext uri="{BB962C8B-B14F-4D97-AF65-F5344CB8AC3E}">
        <p14:creationId xmlns:p14="http://schemas.microsoft.com/office/powerpoint/2010/main" val="257990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391913" y="1568514"/>
            <a:ext cx="3486334" cy="979377"/>
            <a:chOff x="392098" y="2014945"/>
            <a:chExt cx="3486334" cy="979377"/>
          </a:xfrm>
        </p:grpSpPr>
        <p:sp>
          <p:nvSpPr>
            <p:cNvPr id="28" name="직사각형 27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2099" y="2014945"/>
              <a:ext cx="14670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3737620" y="1863427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82254" y="2148169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전화걸기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923460" y="1654601"/>
            <a:ext cx="849550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88666" y="3160103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2932211" y="2085237"/>
            <a:ext cx="849550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>
            <a:off x="3675749" y="2280970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789041" y="2537831"/>
            <a:ext cx="23807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(4)</a:t>
            </a:r>
            <a:r>
              <a:rPr lang="ko-KR" altLang="en-US" sz="1000" dirty="0">
                <a:solidFill>
                  <a:srgbClr val="FF0000"/>
                </a:solidFill>
              </a:rPr>
              <a:t> 문자발송 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문자발송 화면으로 이동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394520" y="2654710"/>
            <a:ext cx="3480294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64363" y="2717642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계약서 발송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388666" y="3687381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566579" y="3272087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 전날 문자 발송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34224" y="3816653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이사완료문자발송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88666" y="4755792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394520" y="4250399"/>
            <a:ext cx="3480294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664363" y="4313331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이사완료처리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88666" y="5283070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664363" y="4867776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: 4</a:t>
            </a:r>
            <a:r>
              <a:rPr lang="ko-KR" altLang="en-US" sz="1000" dirty="0"/>
              <a:t>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4819" y="5414380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26051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8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01768" y="4350707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01768" y="305956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768" y="43892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요구사항등록</a:t>
            </a:r>
          </a:p>
        </p:txBody>
      </p:sp>
      <p:cxnSp>
        <p:nvCxnSpPr>
          <p:cNvPr id="41" name="직선 화살표 연결선 40"/>
          <p:cNvCxnSpPr>
            <a:cxnSpLocks/>
          </p:cNvCxnSpPr>
          <p:nvPr/>
        </p:nvCxnSpPr>
        <p:spPr>
          <a:xfrm>
            <a:off x="3487318" y="2673782"/>
            <a:ext cx="1318092" cy="47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0039" y="341764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청소업체도 같이 불러주세요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91913" y="479812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에어컨 추가로 작업해주세요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5410" y="2587673"/>
            <a:ext cx="2005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요구사항 등록화면으로 이동 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932211" y="3097175"/>
            <a:ext cx="849550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932211" y="4465070"/>
            <a:ext cx="849550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>
            <a:off x="3652913" y="3349217"/>
            <a:ext cx="1318092" cy="47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46107" y="3294531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(4) </a:t>
            </a:r>
            <a:r>
              <a:rPr lang="ko-KR" altLang="en-US" sz="1000" dirty="0">
                <a:solidFill>
                  <a:srgbClr val="FF0000"/>
                </a:solidFill>
              </a:rPr>
              <a:t>답변문자 발송</a:t>
            </a:r>
          </a:p>
        </p:txBody>
      </p:sp>
    </p:spTree>
    <p:extLst>
      <p:ext uri="{BB962C8B-B14F-4D97-AF65-F5344CB8AC3E}">
        <p14:creationId xmlns:p14="http://schemas.microsoft.com/office/powerpoint/2010/main" val="178138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9"/>
            <a:ext cx="3486148" cy="315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등록하기</a:t>
            </a:r>
          </a:p>
        </p:txBody>
      </p:sp>
    </p:spTree>
    <p:extLst>
      <p:ext uri="{BB962C8B-B14F-4D97-AF65-F5344CB8AC3E}">
        <p14:creationId xmlns:p14="http://schemas.microsoft.com/office/powerpoint/2010/main" val="184613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8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01768" y="4350707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01768" y="305956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768" y="43892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발생문제등록</a:t>
            </a:r>
          </a:p>
        </p:txBody>
      </p:sp>
      <p:cxnSp>
        <p:nvCxnSpPr>
          <p:cNvPr id="41" name="직선 화살표 연결선 40"/>
          <p:cNvCxnSpPr>
            <a:cxnSpLocks/>
          </p:cNvCxnSpPr>
          <p:nvPr/>
        </p:nvCxnSpPr>
        <p:spPr>
          <a:xfrm>
            <a:off x="3511360" y="2628974"/>
            <a:ext cx="1318092" cy="47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0039" y="3417642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형광등 깨짐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913" y="4798122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책상 다리 파손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5410" y="2587673"/>
            <a:ext cx="2005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요구사항 등록화면으로 이동 </a:t>
            </a:r>
          </a:p>
        </p:txBody>
      </p:sp>
    </p:spTree>
    <p:extLst>
      <p:ext uri="{BB962C8B-B14F-4D97-AF65-F5344CB8AC3E}">
        <p14:creationId xmlns:p14="http://schemas.microsoft.com/office/powerpoint/2010/main" val="60368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9"/>
            <a:ext cx="3486148" cy="315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등록하기</a:t>
            </a:r>
          </a:p>
        </p:txBody>
      </p:sp>
    </p:spTree>
    <p:extLst>
      <p:ext uri="{BB962C8B-B14F-4D97-AF65-F5344CB8AC3E}">
        <p14:creationId xmlns:p14="http://schemas.microsoft.com/office/powerpoint/2010/main" val="214328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388" y="203218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본사관리</a:t>
            </a:r>
            <a:r>
              <a:rPr lang="en-US" altLang="ko-KR" dirty="0"/>
              <a:t>(</a:t>
            </a:r>
            <a:r>
              <a:rPr lang="ko-KR" altLang="en-US" dirty="0"/>
              <a:t>목록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54557" y="90225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본사관리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92098" y="2014945"/>
            <a:ext cx="3486334" cy="691679"/>
            <a:chOff x="392098" y="2014945"/>
            <a:chExt cx="3486334" cy="691679"/>
          </a:xfrm>
        </p:grpSpPr>
        <p:sp>
          <p:nvSpPr>
            <p:cNvPr id="22" name="직사각형 21"/>
            <p:cNvSpPr/>
            <p:nvPr/>
          </p:nvSpPr>
          <p:spPr>
            <a:xfrm>
              <a:off x="392099" y="2014945"/>
              <a:ext cx="3486333" cy="6916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2099" y="2014945"/>
              <a:ext cx="1710725" cy="265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현재상태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098" y="2296438"/>
              <a:ext cx="2877711" cy="265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선택 건수 </a:t>
              </a:r>
              <a:r>
                <a:rPr lang="en-US" altLang="ko-KR" sz="1000" dirty="0"/>
                <a:t>:                    </a:t>
              </a:r>
              <a:r>
                <a:rPr lang="ko-KR" altLang="en-US" sz="1000" dirty="0"/>
                <a:t>수수료 합계 </a:t>
              </a:r>
              <a:r>
                <a:rPr lang="en-US" altLang="ko-KR" sz="1000" dirty="0"/>
                <a:t>:         </a:t>
              </a:r>
              <a:endParaRPr lang="ko-KR" altLang="en-US" sz="1000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326470" y="2072645"/>
              <a:ext cx="433526" cy="5791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0" name="직선 화살표 연결선 59"/>
          <p:cNvCxnSpPr/>
          <p:nvPr/>
        </p:nvCxnSpPr>
        <p:spPr>
          <a:xfrm>
            <a:off x="3715178" y="2296438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184222" y="2173327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상세보기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91913" y="2801009"/>
            <a:ext cx="3486334" cy="691679"/>
            <a:chOff x="392098" y="2014945"/>
            <a:chExt cx="3486334" cy="691679"/>
          </a:xfrm>
        </p:grpSpPr>
        <p:sp>
          <p:nvSpPr>
            <p:cNvPr id="63" name="직사각형 62"/>
            <p:cNvSpPr/>
            <p:nvPr/>
          </p:nvSpPr>
          <p:spPr>
            <a:xfrm>
              <a:off x="392099" y="2014945"/>
              <a:ext cx="3486333" cy="6916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92099" y="2014945"/>
              <a:ext cx="1710725" cy="265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현재상태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92098" y="2296438"/>
              <a:ext cx="2877711" cy="265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선택 건수 </a:t>
              </a:r>
              <a:r>
                <a:rPr lang="en-US" altLang="ko-KR" sz="1000" dirty="0"/>
                <a:t>:                    </a:t>
              </a:r>
              <a:r>
                <a:rPr lang="ko-KR" altLang="en-US" sz="1000" dirty="0"/>
                <a:t>수수료 합계 </a:t>
              </a:r>
              <a:r>
                <a:rPr lang="en-US" altLang="ko-KR" sz="1000" dirty="0"/>
                <a:t>:         </a:t>
              </a:r>
              <a:endParaRPr lang="ko-KR" altLang="en-US" sz="1000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3326470" y="2072645"/>
              <a:ext cx="433526" cy="5791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391913" y="3587073"/>
            <a:ext cx="3486334" cy="691679"/>
            <a:chOff x="392098" y="2014945"/>
            <a:chExt cx="3486334" cy="691679"/>
          </a:xfrm>
        </p:grpSpPr>
        <p:sp>
          <p:nvSpPr>
            <p:cNvPr id="68" name="직사각형 67"/>
            <p:cNvSpPr/>
            <p:nvPr/>
          </p:nvSpPr>
          <p:spPr>
            <a:xfrm>
              <a:off x="392099" y="2014945"/>
              <a:ext cx="3486333" cy="6916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92099" y="2014945"/>
              <a:ext cx="1710725" cy="265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현재상태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92098" y="2296438"/>
              <a:ext cx="2877711" cy="265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선택 건수 </a:t>
              </a:r>
              <a:r>
                <a:rPr lang="en-US" altLang="ko-KR" sz="1000" dirty="0"/>
                <a:t>:                    </a:t>
              </a:r>
              <a:r>
                <a:rPr lang="ko-KR" altLang="en-US" sz="1000" dirty="0"/>
                <a:t>수수료 합계 </a:t>
              </a:r>
              <a:r>
                <a:rPr lang="en-US" altLang="ko-KR" sz="1000" dirty="0"/>
                <a:t>:         </a:t>
              </a:r>
              <a:endParaRPr lang="ko-KR" altLang="en-US" sz="1000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326470" y="2072645"/>
              <a:ext cx="433526" cy="5791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2" name="직선 화살표 연결선 71"/>
          <p:cNvCxnSpPr/>
          <p:nvPr/>
        </p:nvCxnSpPr>
        <p:spPr>
          <a:xfrm>
            <a:off x="3715178" y="3195383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191907" y="3057034"/>
            <a:ext cx="5128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(4) </a:t>
            </a:r>
            <a:r>
              <a:rPr lang="ko-KR" altLang="en-US" sz="1000" dirty="0">
                <a:solidFill>
                  <a:srgbClr val="FF0000"/>
                </a:solidFill>
              </a:rPr>
              <a:t>프랜차이즈 등록 </a:t>
            </a:r>
            <a:r>
              <a:rPr lang="en-US" altLang="ko-KR" sz="1000" dirty="0">
                <a:solidFill>
                  <a:srgbClr val="FF0000"/>
                </a:solidFill>
              </a:rPr>
              <a:t>( </a:t>
            </a:r>
            <a:r>
              <a:rPr lang="ko-KR" altLang="en-US" sz="1000" dirty="0">
                <a:solidFill>
                  <a:srgbClr val="FF0000"/>
                </a:solidFill>
              </a:rPr>
              <a:t>아직 프랜차이즈 업체와 거래관계가 </a:t>
            </a:r>
            <a:r>
              <a:rPr lang="ko-KR" altLang="en-US" sz="1000" dirty="0" err="1">
                <a:solidFill>
                  <a:srgbClr val="FF0000"/>
                </a:solidFill>
              </a:rPr>
              <a:t>아닐때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취소 및 </a:t>
            </a:r>
            <a:r>
              <a:rPr lang="ko-KR" altLang="en-US" sz="1000" dirty="0" err="1">
                <a:solidFill>
                  <a:srgbClr val="FF0000"/>
                </a:solidFill>
              </a:rPr>
              <a:t>승인전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에는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    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상세보기가 아닌 </a:t>
            </a:r>
            <a:r>
              <a:rPr lang="en-US" altLang="ko-KR" sz="1000" dirty="0">
                <a:solidFill>
                  <a:srgbClr val="FF0000"/>
                </a:solidFill>
              </a:rPr>
              <a:t>(4)</a:t>
            </a:r>
            <a:r>
              <a:rPr lang="ko-KR" altLang="en-US" sz="1000" dirty="0" err="1">
                <a:solidFill>
                  <a:srgbClr val="FF0000"/>
                </a:solidFill>
              </a:rPr>
              <a:t>프렌차이즈</a:t>
            </a:r>
            <a:r>
              <a:rPr lang="ko-KR" altLang="en-US" sz="1000" dirty="0">
                <a:solidFill>
                  <a:srgbClr val="FF0000"/>
                </a:solidFill>
              </a:rPr>
              <a:t> 등록을 보여줌 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95788" y="1494029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1405702" y="1493384"/>
            <a:ext cx="1417513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456889" y="1529999"/>
            <a:ext cx="6303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전체 </a:t>
            </a:r>
            <a:r>
              <a:rPr lang="en-US" altLang="ko-KR" sz="1000" dirty="0"/>
              <a:t>: 3</a:t>
            </a:r>
            <a:endParaRPr lang="ko-KR" alt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1401346" y="1539773"/>
            <a:ext cx="1383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등록된 </a:t>
            </a:r>
            <a:r>
              <a:rPr lang="ko-KR" altLang="en-US" sz="1000" dirty="0" err="1"/>
              <a:t>프렌차이즈명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5541783" y="1794706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좌우 </a:t>
            </a:r>
            <a:r>
              <a:rPr lang="ko-KR" altLang="en-US" sz="1000" dirty="0" err="1">
                <a:solidFill>
                  <a:srgbClr val="FF0000"/>
                </a:solidFill>
              </a:rPr>
              <a:t>제스터를</a:t>
            </a:r>
            <a:r>
              <a:rPr lang="ko-KR" altLang="en-US" sz="1000" dirty="0">
                <a:solidFill>
                  <a:srgbClr val="FF0000"/>
                </a:solidFill>
              </a:rPr>
              <a:t> 통해 ＇전체</a:t>
            </a:r>
            <a:r>
              <a:rPr lang="en-US" altLang="ko-KR" sz="1000" dirty="0">
                <a:solidFill>
                  <a:srgbClr val="FF0000"/>
                </a:solidFill>
              </a:rPr>
              <a:t>’ </a:t>
            </a:r>
            <a:r>
              <a:rPr lang="ko-KR" altLang="en-US" sz="1000" dirty="0">
                <a:solidFill>
                  <a:srgbClr val="FF0000"/>
                </a:solidFill>
              </a:rPr>
              <a:t>메뉴와 </a:t>
            </a:r>
            <a:r>
              <a:rPr lang="en-US" altLang="ko-KR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>
                <a:solidFill>
                  <a:srgbClr val="FF0000"/>
                </a:solidFill>
              </a:rPr>
              <a:t>등록된 </a:t>
            </a:r>
            <a:r>
              <a:rPr lang="ko-KR" altLang="en-US" sz="1000" dirty="0" err="1">
                <a:solidFill>
                  <a:srgbClr val="FF0000"/>
                </a:solidFill>
              </a:rPr>
              <a:t>프렌차이즈</a:t>
            </a:r>
            <a:r>
              <a:rPr lang="ko-KR" altLang="en-US" sz="1000" dirty="0">
                <a:solidFill>
                  <a:srgbClr val="FF0000"/>
                </a:solidFill>
              </a:rPr>
              <a:t>＇ 메뉴를 확인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/>
          </a:p>
        </p:txBody>
      </p:sp>
      <p:cxnSp>
        <p:nvCxnSpPr>
          <p:cNvPr id="78" name="직선 화살표 연결선 77"/>
          <p:cNvCxnSpPr>
            <a:cxnSpLocks/>
            <a:endCxn id="6" idx="1"/>
          </p:cNvCxnSpPr>
          <p:nvPr/>
        </p:nvCxnSpPr>
        <p:spPr>
          <a:xfrm>
            <a:off x="2722966" y="1641692"/>
            <a:ext cx="2818817" cy="276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15780" y="3990293"/>
            <a:ext cx="4993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등록된 본사 및 등록 취소된 본사 내용도 보여줌 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통계 처리를 위해서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886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본사관리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54557" y="90225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본사관리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06398" y="1504764"/>
            <a:ext cx="3486333" cy="3899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14825" y="154295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endParaRPr lang="ko-KR" altLang="en-US" sz="1000" dirty="0"/>
          </a:p>
        </p:txBody>
      </p:sp>
      <p:grpSp>
        <p:nvGrpSpPr>
          <p:cNvPr id="3" name="그룹 2"/>
          <p:cNvGrpSpPr/>
          <p:nvPr/>
        </p:nvGrpSpPr>
        <p:grpSpPr>
          <a:xfrm>
            <a:off x="385236" y="2540305"/>
            <a:ext cx="3500456" cy="660103"/>
            <a:chOff x="377790" y="2110529"/>
            <a:chExt cx="3500456" cy="660103"/>
          </a:xfrm>
        </p:grpSpPr>
        <p:sp>
          <p:nvSpPr>
            <p:cNvPr id="34" name="직사각형 33"/>
            <p:cNvSpPr/>
            <p:nvPr/>
          </p:nvSpPr>
          <p:spPr>
            <a:xfrm>
              <a:off x="391913" y="2110530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631" y="2110530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17.03.10</a:t>
              </a:r>
              <a:endParaRPr lang="ko-KR" altLang="en-US" sz="1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025" y="2110529"/>
              <a:ext cx="17844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150,000</a:t>
              </a:r>
              <a:r>
                <a:rPr lang="ko-KR" altLang="en-US" sz="1000" dirty="0"/>
                <a:t>원                 계약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7790" y="2356748"/>
              <a:ext cx="19046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김용태      </a:t>
              </a:r>
              <a:r>
                <a:rPr lang="en-US" altLang="ko-KR" sz="1000" dirty="0"/>
                <a:t>/    </a:t>
              </a:r>
              <a:r>
                <a:rPr lang="ko-KR" altLang="en-US" sz="1000" dirty="0"/>
                <a:t>서울  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부산</a:t>
              </a:r>
              <a:endParaRPr lang="en-US" altLang="ko-KR" sz="1000" dirty="0"/>
            </a:p>
            <a:p>
              <a:r>
                <a:rPr lang="ko-KR" altLang="en-US" sz="1000" dirty="0"/>
                <a:t>이사종류   </a:t>
              </a:r>
              <a:r>
                <a:rPr lang="en-US" altLang="ko-KR" sz="1000" dirty="0"/>
                <a:t>/   </a:t>
              </a:r>
              <a:r>
                <a:rPr lang="ko-KR" altLang="en-US" sz="1000" dirty="0"/>
                <a:t>물량  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380992" y="3314724"/>
            <a:ext cx="3500456" cy="660103"/>
            <a:chOff x="377790" y="2110529"/>
            <a:chExt cx="3500456" cy="660103"/>
          </a:xfrm>
        </p:grpSpPr>
        <p:sp>
          <p:nvSpPr>
            <p:cNvPr id="45" name="직사각형 44"/>
            <p:cNvSpPr/>
            <p:nvPr/>
          </p:nvSpPr>
          <p:spPr>
            <a:xfrm>
              <a:off x="391913" y="2110530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80631" y="2110530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17.03.09</a:t>
              </a:r>
              <a:endParaRPr lang="ko-KR" altLang="en-US" sz="1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54025" y="2110529"/>
              <a:ext cx="19127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150,000</a:t>
              </a:r>
              <a:r>
                <a:rPr lang="ko-KR" altLang="en-US" sz="1000" dirty="0"/>
                <a:t>원                 </a:t>
              </a:r>
              <a:r>
                <a:rPr lang="ko-KR" altLang="en-US" sz="1000" dirty="0" err="1"/>
                <a:t>미계약</a:t>
              </a:r>
              <a:endParaRPr lang="ko-KR" altLang="en-US" sz="10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77790" y="2356748"/>
              <a:ext cx="19046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김용태      </a:t>
              </a:r>
              <a:r>
                <a:rPr lang="en-US" altLang="ko-KR" sz="1000" dirty="0"/>
                <a:t>/    </a:t>
              </a:r>
              <a:r>
                <a:rPr lang="ko-KR" altLang="en-US" sz="1000" dirty="0"/>
                <a:t>서울  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부산</a:t>
              </a:r>
              <a:endParaRPr lang="en-US" altLang="ko-KR" sz="1000" dirty="0"/>
            </a:p>
            <a:p>
              <a:r>
                <a:rPr lang="ko-KR" altLang="en-US" sz="1000" dirty="0"/>
                <a:t>이사종류   </a:t>
              </a:r>
              <a:r>
                <a:rPr lang="en-US" altLang="ko-KR" sz="1000" dirty="0"/>
                <a:t>/   </a:t>
              </a:r>
              <a:r>
                <a:rPr lang="ko-KR" altLang="en-US" sz="1000" dirty="0"/>
                <a:t>물량  </a:t>
              </a: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80992" y="4099071"/>
            <a:ext cx="3500456" cy="660103"/>
            <a:chOff x="377790" y="2110529"/>
            <a:chExt cx="3500456" cy="660103"/>
          </a:xfrm>
        </p:grpSpPr>
        <p:sp>
          <p:nvSpPr>
            <p:cNvPr id="50" name="직사각형 49"/>
            <p:cNvSpPr/>
            <p:nvPr/>
          </p:nvSpPr>
          <p:spPr>
            <a:xfrm>
              <a:off x="391913" y="2110530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80631" y="2110530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17.03.08</a:t>
              </a:r>
              <a:endParaRPr lang="ko-KR" altLang="en-US" sz="1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54025" y="2110529"/>
              <a:ext cx="19127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150,000</a:t>
              </a:r>
              <a:r>
                <a:rPr lang="ko-KR" altLang="en-US" sz="1000" dirty="0"/>
                <a:t>원                 </a:t>
              </a:r>
              <a:r>
                <a:rPr lang="ko-KR" altLang="en-US" sz="1000" dirty="0" err="1"/>
                <a:t>상담중</a:t>
              </a:r>
              <a:endParaRPr lang="ko-KR" altLang="en-US" sz="10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77790" y="2356748"/>
              <a:ext cx="19046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김용태      </a:t>
              </a:r>
              <a:r>
                <a:rPr lang="en-US" altLang="ko-KR" sz="1000" dirty="0"/>
                <a:t>/    </a:t>
              </a:r>
              <a:r>
                <a:rPr lang="ko-KR" altLang="en-US" sz="1000" dirty="0"/>
                <a:t>서울  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부산</a:t>
              </a:r>
              <a:endParaRPr lang="en-US" altLang="ko-KR" sz="1000" dirty="0"/>
            </a:p>
            <a:p>
              <a:r>
                <a:rPr lang="ko-KR" altLang="en-US" sz="1000" dirty="0"/>
                <a:t>이사종류   </a:t>
              </a:r>
              <a:r>
                <a:rPr lang="en-US" altLang="ko-KR" sz="1000" dirty="0"/>
                <a:t>/   </a:t>
              </a:r>
              <a:r>
                <a:rPr lang="ko-KR" altLang="en-US" sz="1000" dirty="0"/>
                <a:t>물량  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157062" y="1934032"/>
            <a:ext cx="58368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1. (3)</a:t>
            </a:r>
            <a:r>
              <a:rPr lang="ko-KR" altLang="en-US" sz="1000" dirty="0">
                <a:solidFill>
                  <a:srgbClr val="FF0000"/>
                </a:solidFill>
              </a:rPr>
              <a:t>상세보기 눌렸을 때 최근 날짜부터 년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월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단위로 보여줌 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2. </a:t>
            </a:r>
            <a:r>
              <a:rPr lang="ko-KR" altLang="en-US" sz="1000" dirty="0">
                <a:solidFill>
                  <a:srgbClr val="FF0000"/>
                </a:solidFill>
              </a:rPr>
              <a:t>좌우 제스처를 통해서 이전달의 데이터를 확인 할 수 있도록 함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3. </a:t>
            </a:r>
            <a:r>
              <a:rPr lang="ko-KR" altLang="en-US" sz="1000" dirty="0">
                <a:solidFill>
                  <a:srgbClr val="FF0000"/>
                </a:solidFill>
              </a:rPr>
              <a:t>이사일을 기준으로 </a:t>
            </a:r>
            <a:r>
              <a:rPr lang="ko-KR" altLang="en-US" sz="1000" dirty="0" err="1">
                <a:solidFill>
                  <a:srgbClr val="FF0000"/>
                </a:solidFill>
              </a:rPr>
              <a:t>볼것인지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아니면 계약일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 err="1">
                <a:solidFill>
                  <a:srgbClr val="FF0000"/>
                </a:solidFill>
              </a:rPr>
              <a:t>프렌즈차이즈와</a:t>
            </a:r>
            <a:r>
              <a:rPr lang="ko-KR" altLang="en-US" sz="1000" dirty="0">
                <a:solidFill>
                  <a:srgbClr val="FF0000"/>
                </a:solidFill>
              </a:rPr>
              <a:t> 거래일 날짜로 확인할 것인지 선택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4. </a:t>
            </a:r>
            <a:r>
              <a:rPr lang="ko-KR" altLang="en-US" sz="1000" dirty="0">
                <a:solidFill>
                  <a:srgbClr val="FF0000"/>
                </a:solidFill>
              </a:rPr>
              <a:t>선택사항 </a:t>
            </a:r>
            <a:r>
              <a:rPr lang="en-US" altLang="ko-KR" sz="1000" dirty="0">
                <a:solidFill>
                  <a:srgbClr val="FF0000"/>
                </a:solidFill>
              </a:rPr>
              <a:t>[</a:t>
            </a:r>
            <a:r>
              <a:rPr lang="ko-KR" altLang="en-US" sz="1000" dirty="0">
                <a:solidFill>
                  <a:srgbClr val="FF0000"/>
                </a:solidFill>
              </a:rPr>
              <a:t>년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월</a:t>
            </a:r>
            <a:r>
              <a:rPr lang="en-US" altLang="ko-KR" sz="1000" dirty="0">
                <a:solidFill>
                  <a:srgbClr val="FF0000"/>
                </a:solidFill>
              </a:rPr>
              <a:t>], [</a:t>
            </a:r>
            <a:r>
              <a:rPr lang="ko-KR" altLang="en-US" sz="1000" dirty="0">
                <a:solidFill>
                  <a:srgbClr val="FF0000"/>
                </a:solidFill>
              </a:rPr>
              <a:t>거래일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계약일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이사일</a:t>
            </a:r>
            <a:r>
              <a:rPr lang="en-US" altLang="ko-KR" sz="1000" dirty="0">
                <a:solidFill>
                  <a:srgbClr val="FF0000"/>
                </a:solidFill>
              </a:rPr>
              <a:t>]</a:t>
            </a:r>
            <a:r>
              <a:rPr lang="ko-KR" altLang="en-US" sz="1000" dirty="0">
                <a:solidFill>
                  <a:srgbClr val="FF0000"/>
                </a:solidFill>
              </a:rPr>
              <a:t>은 </a:t>
            </a:r>
            <a:r>
              <a:rPr lang="en-US" altLang="ko-KR" sz="1000" dirty="0" err="1">
                <a:solidFill>
                  <a:srgbClr val="FF0000"/>
                </a:solidFill>
              </a:rPr>
              <a:t>selectbox</a:t>
            </a:r>
            <a:r>
              <a:rPr lang="ko-KR" altLang="en-US" sz="1000" dirty="0">
                <a:solidFill>
                  <a:srgbClr val="FF0000"/>
                </a:solidFill>
              </a:rPr>
              <a:t> 처리함 </a:t>
            </a:r>
          </a:p>
          <a:p>
            <a:r>
              <a:rPr lang="ko-KR" altLang="en-US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1125" y="1560115"/>
            <a:ext cx="1518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거래일</a:t>
            </a:r>
            <a:r>
              <a:rPr lang="en-US" altLang="ko-KR" sz="1000" dirty="0"/>
              <a:t>/</a:t>
            </a:r>
            <a:r>
              <a:rPr lang="ko-KR" altLang="en-US" sz="1000" dirty="0"/>
              <a:t>계약일</a:t>
            </a:r>
            <a:r>
              <a:rPr lang="en-US" altLang="ko-KR" sz="1000" dirty="0"/>
              <a:t>/</a:t>
            </a:r>
            <a:r>
              <a:rPr lang="ko-KR" altLang="en-US" sz="1000" dirty="0"/>
              <a:t>이사일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3801256" y="1768219"/>
            <a:ext cx="1355806" cy="361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15780" y="3990293"/>
            <a:ext cx="4993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등록된 본사 및 등록 취소된 본사 내용도 보여줌 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통계 처리를 위해서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343" y="1951502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거래건수 </a:t>
            </a:r>
            <a:r>
              <a:rPr lang="en-US" altLang="ko-KR" sz="1000" dirty="0"/>
              <a:t>: </a:t>
            </a:r>
          </a:p>
          <a:p>
            <a:r>
              <a:rPr lang="ko-KR" altLang="en-US" sz="1000" dirty="0"/>
              <a:t>계약건수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2355586" y="1934232"/>
            <a:ext cx="1522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수수료총액 </a:t>
            </a:r>
            <a:r>
              <a:rPr lang="en-US" altLang="ko-KR" sz="1000" dirty="0"/>
              <a:t>: </a:t>
            </a:r>
          </a:p>
          <a:p>
            <a:r>
              <a:rPr lang="en-US" altLang="ko-KR" sz="1000" dirty="0"/>
              <a:t> </a:t>
            </a:r>
            <a:endParaRPr lang="ko-KR" alt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1882960" y="1549995"/>
            <a:ext cx="659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년 </a:t>
            </a:r>
            <a:r>
              <a:rPr lang="en-US" altLang="ko-KR" sz="1000" dirty="0"/>
              <a:t>/ </a:t>
            </a:r>
            <a:r>
              <a:rPr lang="ko-KR" altLang="en-US" sz="1000" dirty="0"/>
              <a:t>월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096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91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현장작업자관리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78419" y="2863192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사용승인 </a:t>
            </a:r>
            <a:r>
              <a:rPr lang="en-US" altLang="ko-KR" sz="1000" dirty="0">
                <a:solidFill>
                  <a:srgbClr val="FF0000"/>
                </a:solidFill>
              </a:rPr>
              <a:t>/ </a:t>
            </a:r>
            <a:r>
              <a:rPr lang="ko-KR" altLang="en-US" sz="1000" dirty="0">
                <a:solidFill>
                  <a:srgbClr val="FF0000"/>
                </a:solidFill>
              </a:rPr>
              <a:t>승인거절</a:t>
            </a: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3685769" y="2014218"/>
            <a:ext cx="1535916" cy="972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26173" y="891616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현장작업자관리</a:t>
            </a:r>
            <a:endParaRPr lang="ko-KR" altLang="en-US" sz="1000" dirty="0"/>
          </a:p>
        </p:txBody>
      </p:sp>
      <p:grpSp>
        <p:nvGrpSpPr>
          <p:cNvPr id="6" name="그룹 5"/>
          <p:cNvGrpSpPr/>
          <p:nvPr/>
        </p:nvGrpSpPr>
        <p:grpSpPr>
          <a:xfrm>
            <a:off x="385928" y="1592658"/>
            <a:ext cx="3486333" cy="660102"/>
            <a:chOff x="385928" y="1592658"/>
            <a:chExt cx="3486333" cy="660102"/>
          </a:xfrm>
        </p:grpSpPr>
        <p:sp>
          <p:nvSpPr>
            <p:cNvPr id="34" name="직사각형 33"/>
            <p:cNvSpPr/>
            <p:nvPr/>
          </p:nvSpPr>
          <p:spPr>
            <a:xfrm>
              <a:off x="385928" y="1592658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5928" y="1596309"/>
              <a:ext cx="111120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홍길동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en-US" altLang="ko-KR" sz="1000" dirty="0"/>
                <a:t>010-2334-3345 </a:t>
              </a:r>
              <a:endParaRPr lang="ko-KR" altLang="en-US" sz="1000" dirty="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056811" y="1717749"/>
              <a:ext cx="717981" cy="3994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85928" y="2370131"/>
            <a:ext cx="3486333" cy="660102"/>
            <a:chOff x="385928" y="1592658"/>
            <a:chExt cx="3486333" cy="660102"/>
          </a:xfrm>
        </p:grpSpPr>
        <p:sp>
          <p:nvSpPr>
            <p:cNvPr id="61" name="직사각형 60"/>
            <p:cNvSpPr/>
            <p:nvPr/>
          </p:nvSpPr>
          <p:spPr>
            <a:xfrm>
              <a:off x="385928" y="1592658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85928" y="1596309"/>
              <a:ext cx="111120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홍길동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en-US" altLang="ko-KR" sz="1000" dirty="0"/>
                <a:t>010-2334-3345 </a:t>
              </a:r>
              <a:endParaRPr lang="ko-KR" altLang="en-US" sz="1000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3056811" y="1717749"/>
              <a:ext cx="717981" cy="3994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385927" y="3103674"/>
            <a:ext cx="3486333" cy="660102"/>
            <a:chOff x="385928" y="1592658"/>
            <a:chExt cx="3486333" cy="660102"/>
          </a:xfrm>
        </p:grpSpPr>
        <p:sp>
          <p:nvSpPr>
            <p:cNvPr id="65" name="직사각형 64"/>
            <p:cNvSpPr/>
            <p:nvPr/>
          </p:nvSpPr>
          <p:spPr>
            <a:xfrm>
              <a:off x="385928" y="1592658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85928" y="1596309"/>
              <a:ext cx="111120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홍길동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en-US" altLang="ko-KR" sz="1000" dirty="0"/>
                <a:t>010-2334-3345 </a:t>
              </a:r>
              <a:endParaRPr lang="ko-KR" altLang="en-US" sz="1000" dirty="0"/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3056811" y="1717749"/>
              <a:ext cx="717981" cy="3994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9957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지점용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환경설정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67264" y="89045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환경설정</a:t>
            </a:r>
            <a:endParaRPr lang="ko-KR" altLang="en-US" sz="1000" dirty="0"/>
          </a:p>
        </p:txBody>
      </p:sp>
      <p:sp>
        <p:nvSpPr>
          <p:cNvPr id="31" name="직사각형 30"/>
          <p:cNvSpPr/>
          <p:nvPr/>
        </p:nvSpPr>
        <p:spPr>
          <a:xfrm>
            <a:off x="395788" y="1494029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75292" y="155123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지역설정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95788" y="2154584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1338560" y="2154583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2317105" y="2154583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392099" y="2602339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1338560" y="2602339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2317105" y="2602339"/>
            <a:ext cx="856636" cy="339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08862" y="220348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서울</a:t>
            </a:r>
            <a:endParaRPr lang="ko-KR" alt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1546305" y="220135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경기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24850" y="219861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충남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9844" y="264910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충북</a:t>
            </a:r>
          </a:p>
        </p:txBody>
      </p:sp>
      <p:cxnSp>
        <p:nvCxnSpPr>
          <p:cNvPr id="47" name="직선 화살표 연결선 46"/>
          <p:cNvCxnSpPr>
            <a:cxnSpLocks/>
          </p:cNvCxnSpPr>
          <p:nvPr/>
        </p:nvCxnSpPr>
        <p:spPr>
          <a:xfrm>
            <a:off x="3217021" y="2421963"/>
            <a:ext cx="1709850" cy="723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57062" y="2264384"/>
            <a:ext cx="40222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1. </a:t>
            </a:r>
            <a:r>
              <a:rPr lang="ko-KR" altLang="en-US" sz="1000" dirty="0" err="1">
                <a:solidFill>
                  <a:srgbClr val="FF0000"/>
                </a:solidFill>
              </a:rPr>
              <a:t>프렌차이즈로</a:t>
            </a:r>
            <a:r>
              <a:rPr lang="ko-KR" altLang="en-US" sz="1000" dirty="0">
                <a:solidFill>
                  <a:srgbClr val="FF0000"/>
                </a:solidFill>
              </a:rPr>
              <a:t> 부터 이사정보 및 이사정보 알림을 받기 위한 설정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  </a:t>
            </a:r>
            <a:r>
              <a:rPr lang="ko-KR" altLang="en-US" sz="1000" dirty="0">
                <a:solidFill>
                  <a:srgbClr val="FF0000"/>
                </a:solidFill>
              </a:rPr>
              <a:t>해당 지역에 있는 물량만 선택적으로 받을 수 있음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2. </a:t>
            </a:r>
            <a:r>
              <a:rPr lang="ko-KR" altLang="en-US" sz="1000" dirty="0">
                <a:solidFill>
                  <a:srgbClr val="FF0000"/>
                </a:solidFill>
              </a:rPr>
              <a:t>복수 선택 가능 </a:t>
            </a:r>
          </a:p>
        </p:txBody>
      </p:sp>
    </p:spTree>
    <p:extLst>
      <p:ext uri="{BB962C8B-B14F-4D97-AF65-F5344CB8AC3E}">
        <p14:creationId xmlns:p14="http://schemas.microsoft.com/office/powerpoint/2010/main" val="1039584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947" y="1935333"/>
            <a:ext cx="361188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/>
              <a:t>포장이사 네트워크</a:t>
            </a:r>
            <a:endParaRPr lang="en-US" altLang="ko-KR" sz="3200" dirty="0"/>
          </a:p>
          <a:p>
            <a:pPr algn="ctr"/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ko-KR" altLang="en-US" sz="3200" dirty="0" err="1"/>
              <a:t>현장용</a:t>
            </a:r>
            <a:endParaRPr lang="en-US" altLang="ko-KR" sz="3200" dirty="0"/>
          </a:p>
          <a:p>
            <a:pPr algn="ctr"/>
            <a:r>
              <a:rPr lang="ko-KR" altLang="en-US" sz="3200" dirty="0"/>
              <a:t>앱</a:t>
            </a:r>
            <a:r>
              <a:rPr lang="en-US" altLang="ko-KR" sz="3200" dirty="0"/>
              <a:t>(Android)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04711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3821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메뉴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/>
          <p:cNvCxnSpPr>
            <a:stCxn id="16" idx="3"/>
          </p:cNvCxnSpPr>
          <p:nvPr/>
        </p:nvCxnSpPr>
        <p:spPr>
          <a:xfrm>
            <a:off x="825625" y="1025371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59151" y="902260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>
                <a:solidFill>
                  <a:srgbClr val="FF0000"/>
                </a:solidFill>
              </a:rPr>
              <a:t>메뉴버튼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08863" y="1225118"/>
            <a:ext cx="1708210" cy="11629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8862" y="188781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555" y="150476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지점관리</a:t>
            </a:r>
          </a:p>
        </p:txBody>
      </p:sp>
    </p:spTree>
    <p:extLst>
      <p:ext uri="{BB962C8B-B14F-4D97-AF65-F5344CB8AC3E}">
        <p14:creationId xmlns:p14="http://schemas.microsoft.com/office/powerpoint/2010/main" val="408430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지점관리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78419" y="286319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승인요청</a:t>
            </a: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3685769" y="2014218"/>
            <a:ext cx="1535916" cy="972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26173" y="89161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지점관리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85928" y="1592658"/>
            <a:ext cx="3486333" cy="660102"/>
            <a:chOff x="385928" y="1592658"/>
            <a:chExt cx="3486333" cy="660102"/>
          </a:xfrm>
        </p:grpSpPr>
        <p:sp>
          <p:nvSpPr>
            <p:cNvPr id="34" name="직사각형 33"/>
            <p:cNvSpPr/>
            <p:nvPr/>
          </p:nvSpPr>
          <p:spPr>
            <a:xfrm>
              <a:off x="385928" y="1592658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5928" y="1596309"/>
              <a:ext cx="111120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24</a:t>
              </a:r>
              <a:r>
                <a:rPr lang="ko-KR" altLang="en-US" sz="1000" dirty="0" err="1"/>
                <a:t>일번지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en-US" altLang="ko-KR" sz="1000" dirty="0"/>
                <a:t>010-2334-3345 </a:t>
              </a:r>
              <a:endParaRPr lang="ko-KR" altLang="en-US" sz="1000" dirty="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056811" y="1717749"/>
              <a:ext cx="717981" cy="3994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85928" y="2370131"/>
            <a:ext cx="3486333" cy="660102"/>
            <a:chOff x="385928" y="1592658"/>
            <a:chExt cx="3486333" cy="660102"/>
          </a:xfrm>
        </p:grpSpPr>
        <p:sp>
          <p:nvSpPr>
            <p:cNvPr id="61" name="직사각형 60"/>
            <p:cNvSpPr/>
            <p:nvPr/>
          </p:nvSpPr>
          <p:spPr>
            <a:xfrm>
              <a:off x="385928" y="1592658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85928" y="1596309"/>
              <a:ext cx="111120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통일이사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en-US" altLang="ko-KR" sz="1000" dirty="0"/>
                <a:t>010-2334-3345 </a:t>
              </a:r>
              <a:endParaRPr lang="ko-KR" altLang="en-US" sz="1000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3056811" y="1717749"/>
              <a:ext cx="717981" cy="3994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385927" y="3103674"/>
            <a:ext cx="3486333" cy="660102"/>
            <a:chOff x="385928" y="1592658"/>
            <a:chExt cx="3486333" cy="660102"/>
          </a:xfrm>
        </p:grpSpPr>
        <p:sp>
          <p:nvSpPr>
            <p:cNvPr id="65" name="직사각형 64"/>
            <p:cNvSpPr/>
            <p:nvPr/>
          </p:nvSpPr>
          <p:spPr>
            <a:xfrm>
              <a:off x="385928" y="1592658"/>
              <a:ext cx="3486333" cy="660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85928" y="1596309"/>
              <a:ext cx="111120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삼삼이사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en-US" altLang="ko-KR" sz="1000" dirty="0"/>
                <a:t>010-2334-3345 </a:t>
              </a:r>
              <a:endParaRPr lang="ko-KR" altLang="en-US" sz="1000" dirty="0"/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3056811" y="1717749"/>
              <a:ext cx="717981" cy="3994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0453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목록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26173" y="89161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406397" y="1641779"/>
            <a:ext cx="3486334" cy="979377"/>
            <a:chOff x="392098" y="2014945"/>
            <a:chExt cx="3486334" cy="979377"/>
          </a:xfrm>
        </p:grpSpPr>
        <p:sp>
          <p:nvSpPr>
            <p:cNvPr id="28" name="직사각형 27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2099" y="2014945"/>
              <a:ext cx="14670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406397" y="2805182"/>
            <a:ext cx="3486334" cy="979377"/>
            <a:chOff x="392098" y="2014945"/>
            <a:chExt cx="3486334" cy="979377"/>
          </a:xfrm>
        </p:grpSpPr>
        <p:sp>
          <p:nvSpPr>
            <p:cNvPr id="36" name="직사각형 35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92099" y="2014945"/>
              <a:ext cx="14670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06397" y="3947887"/>
            <a:ext cx="3486334" cy="979377"/>
            <a:chOff x="392098" y="2014945"/>
            <a:chExt cx="3486334" cy="979377"/>
          </a:xfrm>
        </p:grpSpPr>
        <p:sp>
          <p:nvSpPr>
            <p:cNvPr id="44" name="직사각형 43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2099" y="2014945"/>
              <a:ext cx="14670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sp>
        <p:nvSpPr>
          <p:cNvPr id="49" name="직사각형 48"/>
          <p:cNvSpPr/>
          <p:nvPr/>
        </p:nvSpPr>
        <p:spPr>
          <a:xfrm>
            <a:off x="3056811" y="1717749"/>
            <a:ext cx="717981" cy="8301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3707179" y="2130052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09953" y="2360442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상세보기</a:t>
            </a:r>
          </a:p>
        </p:txBody>
      </p:sp>
    </p:spTree>
    <p:extLst>
      <p:ext uri="{BB962C8B-B14F-4D97-AF65-F5344CB8AC3E}">
        <p14:creationId xmlns:p14="http://schemas.microsoft.com/office/powerpoint/2010/main" val="631987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391913" y="1568514"/>
            <a:ext cx="3486334" cy="979377"/>
            <a:chOff x="392098" y="2014945"/>
            <a:chExt cx="3486334" cy="979377"/>
          </a:xfrm>
        </p:grpSpPr>
        <p:sp>
          <p:nvSpPr>
            <p:cNvPr id="28" name="직사각형 27"/>
            <p:cNvSpPr/>
            <p:nvPr/>
          </p:nvSpPr>
          <p:spPr>
            <a:xfrm>
              <a:off x="392099" y="2014945"/>
              <a:ext cx="3486333" cy="9793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2099" y="2014945"/>
              <a:ext cx="14670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본사명</a:t>
              </a:r>
              <a:r>
                <a:rPr lang="ko-KR" altLang="en-US" sz="1000" dirty="0"/>
                <a:t>                   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2098" y="2275658"/>
              <a:ext cx="11865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출발지 </a:t>
              </a:r>
              <a:r>
                <a:rPr lang="en-US" altLang="ko-KR" sz="1000" dirty="0"/>
                <a:t>-&gt; </a:t>
              </a:r>
              <a:r>
                <a:rPr lang="ko-KR" altLang="en-US" sz="1000" dirty="0"/>
                <a:t>도착지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099" y="2487387"/>
              <a:ext cx="17043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물량      이사종류     상태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2098" y="2748101"/>
              <a:ext cx="12682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성명       이사일자</a:t>
              </a:r>
            </a:p>
          </p:txBody>
        </p:sp>
      </p:grp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3737620" y="1863427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82254" y="2148169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전화걸기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923460" y="1654601"/>
            <a:ext cx="849550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88666" y="3160103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2932211" y="2085237"/>
            <a:ext cx="849550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>
            <a:off x="3675749" y="2280970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789041" y="2537831"/>
            <a:ext cx="23807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(4)</a:t>
            </a:r>
            <a:r>
              <a:rPr lang="ko-KR" altLang="en-US" sz="1000" dirty="0">
                <a:solidFill>
                  <a:srgbClr val="FF0000"/>
                </a:solidFill>
              </a:rPr>
              <a:t> 문자발송 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문자발송 화면으로 이동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394520" y="2654710"/>
            <a:ext cx="3480294" cy="372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64363" y="2717642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이사완료처리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388666" y="3687381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64363" y="3272087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94819" y="3818691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767251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8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01768" y="4350707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01768" y="305956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768" y="43892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요구사항등록</a:t>
            </a:r>
          </a:p>
        </p:txBody>
      </p:sp>
      <p:cxnSp>
        <p:nvCxnSpPr>
          <p:cNvPr id="41" name="직선 화살표 연결선 40"/>
          <p:cNvCxnSpPr>
            <a:cxnSpLocks/>
          </p:cNvCxnSpPr>
          <p:nvPr/>
        </p:nvCxnSpPr>
        <p:spPr>
          <a:xfrm>
            <a:off x="3511360" y="2628974"/>
            <a:ext cx="1318092" cy="47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0039" y="341764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청소업체도 같이 불러주세요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91913" y="4798122"/>
            <a:ext cx="18133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에어컨 추가로 작업해주세요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5410" y="2587673"/>
            <a:ext cx="2005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요구사항 등록화면으로 이동 </a:t>
            </a:r>
          </a:p>
        </p:txBody>
      </p:sp>
    </p:spTree>
    <p:extLst>
      <p:ext uri="{BB962C8B-B14F-4D97-AF65-F5344CB8AC3E}">
        <p14:creationId xmlns:p14="http://schemas.microsoft.com/office/powerpoint/2010/main" val="1352732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9"/>
            <a:ext cx="3486148" cy="315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등록하기</a:t>
            </a:r>
          </a:p>
        </p:txBody>
      </p:sp>
    </p:spTree>
    <p:extLst>
      <p:ext uri="{BB962C8B-B14F-4D97-AF65-F5344CB8AC3E}">
        <p14:creationId xmlns:p14="http://schemas.microsoft.com/office/powerpoint/2010/main" val="3428526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8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01768" y="4350707"/>
            <a:ext cx="3486148" cy="1201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01768" y="305956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768" y="43892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등록일자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발생문제등록</a:t>
            </a:r>
          </a:p>
        </p:txBody>
      </p:sp>
      <p:cxnSp>
        <p:nvCxnSpPr>
          <p:cNvPr id="41" name="직선 화살표 연결선 40"/>
          <p:cNvCxnSpPr>
            <a:cxnSpLocks/>
          </p:cNvCxnSpPr>
          <p:nvPr/>
        </p:nvCxnSpPr>
        <p:spPr>
          <a:xfrm>
            <a:off x="3511360" y="2628974"/>
            <a:ext cx="1318092" cy="47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0039" y="3417642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형광등 깨짐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913" y="4798122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책상 다리 파손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5410" y="2587673"/>
            <a:ext cx="2005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(3)</a:t>
            </a:r>
            <a:r>
              <a:rPr lang="ko-KR" altLang="en-US" sz="1000" dirty="0">
                <a:solidFill>
                  <a:srgbClr val="FF0000"/>
                </a:solidFill>
              </a:rPr>
              <a:t>요구사항 등록화면으로 이동 </a:t>
            </a:r>
          </a:p>
        </p:txBody>
      </p:sp>
    </p:spTree>
    <p:extLst>
      <p:ext uri="{BB962C8B-B14F-4D97-AF65-F5344CB8AC3E}">
        <p14:creationId xmlns:p14="http://schemas.microsoft.com/office/powerpoint/2010/main" val="1343681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187" y="213064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포장이사 네트워크 </a:t>
            </a:r>
            <a:r>
              <a:rPr lang="en-US" altLang="ko-KR" dirty="0"/>
              <a:t>: </a:t>
            </a:r>
            <a:r>
              <a:rPr lang="ko-KR" altLang="en-US" dirty="0" err="1"/>
              <a:t>현장용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이사정보</a:t>
            </a:r>
            <a:r>
              <a:rPr lang="en-US" altLang="ko-KR" dirty="0"/>
              <a:t>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4086" y="745724"/>
            <a:ext cx="3710865" cy="5699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 flipV="1">
            <a:off x="284086" y="1305017"/>
            <a:ext cx="3701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92099" y="825623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923460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459205" y="814980"/>
            <a:ext cx="433526" cy="399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878433" y="1025370"/>
            <a:ext cx="355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1959" y="902259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(2)</a:t>
            </a:r>
            <a:r>
              <a:rPr lang="ko-KR" altLang="en-US" sz="1000" dirty="0" err="1">
                <a:solidFill>
                  <a:srgbClr val="FF0000"/>
                </a:solidFill>
              </a:rPr>
              <a:t>새로고침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>
            <a:cxnSpLocks/>
            <a:stCxn id="15" idx="2"/>
          </p:cNvCxnSpPr>
          <p:nvPr/>
        </p:nvCxnSpPr>
        <p:spPr>
          <a:xfrm>
            <a:off x="3140223" y="1214475"/>
            <a:ext cx="1093315" cy="336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1959" y="1428126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(1)</a:t>
            </a:r>
            <a:r>
              <a:rPr lang="ko-KR" altLang="en-US" sz="1000" dirty="0" err="1">
                <a:solidFill>
                  <a:srgbClr val="FF0000"/>
                </a:solidFill>
              </a:rPr>
              <a:t>상위메뉴로가기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25729" y="9103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이사정보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91914" y="1568514"/>
            <a:ext cx="3486333" cy="76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1914" y="1568514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본사명</a:t>
            </a:r>
            <a:r>
              <a:rPr lang="ko-KR" altLang="en-US" sz="1000" dirty="0"/>
              <a:t>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913" y="1829227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출발지 </a:t>
            </a:r>
            <a:r>
              <a:rPr lang="en-US" altLang="ko-KR" sz="1000" dirty="0"/>
              <a:t>-&gt; </a:t>
            </a:r>
            <a:r>
              <a:rPr lang="ko-KR" altLang="en-US" sz="1000" dirty="0"/>
              <a:t>도착지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767" y="206271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성명       이사일자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91913" y="3021699"/>
            <a:ext cx="3486148" cy="315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750217" y="158093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발생문제 </a:t>
            </a:r>
            <a:r>
              <a:rPr lang="en-US" altLang="ko-KR" sz="1000" dirty="0"/>
              <a:t>: 2</a:t>
            </a:r>
            <a:r>
              <a:rPr lang="ko-KR" altLang="en-US" sz="1000" dirty="0"/>
              <a:t>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1913" y="2423018"/>
            <a:ext cx="3486148" cy="4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78456" y="252576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등록하기</a:t>
            </a:r>
          </a:p>
        </p:txBody>
      </p:sp>
    </p:spTree>
    <p:extLst>
      <p:ext uri="{BB962C8B-B14F-4D97-AF65-F5344CB8AC3E}">
        <p14:creationId xmlns:p14="http://schemas.microsoft.com/office/powerpoint/2010/main" val="336161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1012</Words>
  <Application>Microsoft Office PowerPoint</Application>
  <PresentationFormat>와이드스크린</PresentationFormat>
  <Paragraphs>297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이경수</dc:creator>
  <cp:lastModifiedBy>이경수</cp:lastModifiedBy>
  <cp:revision>21</cp:revision>
  <dcterms:created xsi:type="dcterms:W3CDTF">2017-03-18T15:43:32Z</dcterms:created>
  <dcterms:modified xsi:type="dcterms:W3CDTF">2017-03-20T15:24:32Z</dcterms:modified>
</cp:coreProperties>
</file>